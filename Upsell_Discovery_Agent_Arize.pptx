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FRAMEWORK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Upsell Discovery Agent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LangGraph copilot that turns a CSM's manual book-of-business review into an observable, repeatable workflow.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Vishaal Bhardwaj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CSM, Cyberhaven  ·  Interview with Arize AI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852160" y="4069080"/>
            <a:ext cx="1325880" cy="320040"/>
          </a:xfrm>
          <a:prstGeom prst="roundRect">
            <a:avLst>
              <a:gd name="adj" fmla="val 14286"/>
            </a:avLst>
          </a:prstGeom>
          <a:solidFill>
            <a:srgbClr val="2A3142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0" y="40690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269480" y="4069080"/>
            <a:ext cx="1325880" cy="320040"/>
          </a:xfrm>
          <a:prstGeom prst="roundRect">
            <a:avLst>
              <a:gd name="adj" fmla="val 14286"/>
            </a:avLst>
          </a:prstGeom>
          <a:solidFill>
            <a:srgbClr val="2A3142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69480" y="406908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4480560"/>
            <a:ext cx="1325880" cy="320040"/>
          </a:xfrm>
          <a:prstGeom prst="roundRect">
            <a:avLst>
              <a:gd name="adj" fmla="val 14286"/>
            </a:avLst>
          </a:prstGeom>
          <a:solidFill>
            <a:srgbClr val="2A3142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44805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69480" y="4480560"/>
            <a:ext cx="1325880" cy="320040"/>
          </a:xfrm>
          <a:prstGeom prst="roundRect">
            <a:avLst>
              <a:gd name="adj" fmla="val 14286"/>
            </a:avLst>
          </a:prstGeom>
          <a:solidFill>
            <a:srgbClr val="2A3142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69480" y="448056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OpenInference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CSMs are running expansion plays from spreadsheets.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85800" y="2103120"/>
            <a:ext cx="457200" cy="45720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2167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697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in 4 places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" y="31546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for ARR, the product warehouse for usage, Stripe for billing, Gainsight for health. Stitching these takes 20+ minutes per account.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8288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520440" y="2103120"/>
            <a:ext cx="457200" cy="45720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4448" y="216712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20440" y="2697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get missed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3520440" y="31546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Over-utilization, dormant premium SKUs, growth trends — every CSM has their own heuristics. Quality is uneven, and quiet accounts get ignored.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828800"/>
            <a:ext cx="269748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55080" y="2103120"/>
            <a:ext cx="457200" cy="45720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9088" y="216712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55080" y="26974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 is ad-hoc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6355080" y="31546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time a thesis is built, drafting an email to the economic buyer takes another 15 minutes. Most pipeline never gets surfaced.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Discovery Agent  ·  Arize AI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8229600" y="4800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/ 09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agent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ReAct loop over a small toolbox of CRM-like APIs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828800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205740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11480" y="2651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20040" y="1737360"/>
            <a:ext cx="292608" cy="292608"/>
          </a:xfrm>
          <a:prstGeom prst="ellipse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1828800" y="251460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2148840" y="1828800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180" y="205740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148840" y="2651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2057400" y="1737360"/>
            <a:ext cx="292608" cy="292608"/>
          </a:xfrm>
          <a:prstGeom prst="ellipse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05740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566160" y="251460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3886200" y="1828800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0540" y="205740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86200" y="2651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SKUs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794760" y="1737360"/>
            <a:ext cx="292608" cy="292608"/>
          </a:xfrm>
          <a:prstGeom prst="ellipse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79476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303520" y="251460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5623560" y="1828800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7900" y="2057400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623560" y="2651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532120" y="1737360"/>
            <a:ext cx="292608" cy="292608"/>
          </a:xfrm>
          <a:prstGeom prst="ellipse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53212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7040880" y="2514600"/>
            <a:ext cx="274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8" name="Shape 22"/>
          <p:cNvSpPr/>
          <p:nvPr/>
        </p:nvSpPr>
        <p:spPr>
          <a:xfrm>
            <a:off x="7360920" y="1828800"/>
            <a:ext cx="1371600" cy="1371600"/>
          </a:xfrm>
          <a:prstGeom prst="rect">
            <a:avLst/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5260" y="2057400"/>
            <a:ext cx="502920" cy="5029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360920" y="265176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Outreach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7269480" y="1737360"/>
            <a:ext cx="292608" cy="292608"/>
          </a:xfrm>
          <a:prstGeom prst="ellipse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2" name="Text 25"/>
          <p:cNvSpPr/>
          <p:nvPr/>
        </p:nvSpPr>
        <p:spPr>
          <a:xfrm>
            <a:off x="7269480" y="17373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457200" y="3657600"/>
            <a:ext cx="8229600" cy="86868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685800" y="3703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decides which tools to call and when to stop. </a:t>
            </a:r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hand-coded if/else logic — just a system prompt, 5 tools, and the LangGraph ReAct runtime.</a:t>
            </a:r>
            <a:endParaRPr lang="en-US" sz="1400" dirty="0"/>
          </a:p>
        </p:txBody>
      </p:sp>
      <p:sp>
        <p:nvSpPr>
          <p:cNvPr id="35" name="Text 28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Discovery Agent  ·  Arize AI</a:t>
            </a:r>
            <a:endParaRPr lang="en-US" sz="900" dirty="0"/>
          </a:p>
        </p:txBody>
      </p:sp>
      <p:sp>
        <p:nvSpPr>
          <p:cNvPr id="36" name="Text 29"/>
          <p:cNvSpPr/>
          <p:nvPr/>
        </p:nvSpPr>
        <p:spPr>
          <a:xfrm>
            <a:off x="8229600" y="4800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/ 09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runs, one trace tree.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2148840"/>
            <a:ext cx="320040" cy="320040"/>
          </a:xfrm>
          <a:prstGeom prst="ellipse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48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ACME-001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39572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the 124% utilization → seat true-up + Insider Threat attach.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926080"/>
            <a:ext cx="320040" cy="320040"/>
          </a:xfrm>
          <a:prstGeom prst="ellipse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GLOBEX-002 vs ACME-001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317296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the agent compare two accounts in one prompt.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703320"/>
            <a:ext cx="320040" cy="320040"/>
          </a:xfrm>
          <a:prstGeom prst="ellipse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37033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3657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INITECH-003 full motion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950208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End-to-end: thesis + dollar uplift + draft email.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54880" y="1828800"/>
            <a:ext cx="0" cy="2468880"/>
          </a:xfrm>
          <a:prstGeom prst="line">
            <a:avLst/>
          </a:prstGeom>
          <a:noFill/>
          <a:ln w="12700">
            <a:solidFill>
              <a:srgbClr val="2A31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WATCH IN PHOENIX</a:t>
            </a:r>
            <a:endParaRPr lang="en-US" sz="100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2139696"/>
            <a:ext cx="256032" cy="256032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5394960" y="21031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Span tree showing the full graph → LLM → tool nesting</a:t>
            </a:r>
            <a:endParaRPr lang="en-US" sz="12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642616"/>
            <a:ext cx="256032" cy="256032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394960" y="260604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Per-step latency + token counts</a:t>
            </a:r>
            <a:endParaRPr lang="en-US" sz="12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3145536"/>
            <a:ext cx="256032" cy="256032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5394960" y="3108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inputs and outputs at every hop</a:t>
            </a:r>
            <a:endParaRPr lang="en-US" sz="12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3648456"/>
            <a:ext cx="256032" cy="25603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394960" y="36118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model chose to stop investigating</a:t>
            </a:r>
            <a:endParaRPr lang="en-US" sz="1200" dirty="0"/>
          </a:p>
        </p:txBody>
      </p:sp>
      <p:sp>
        <p:nvSpPr>
          <p:cNvPr id="27" name="Shape 21"/>
          <p:cNvSpPr/>
          <p:nvPr/>
        </p:nvSpPr>
        <p:spPr>
          <a:xfrm>
            <a:off x="457200" y="4434840"/>
            <a:ext cx="8229600" cy="457200"/>
          </a:xfrm>
          <a:prstGeom prst="rect">
            <a:avLst/>
          </a:prstGeom>
          <a:solidFill>
            <a:srgbClr val="0B1019"/>
          </a:solidFill>
          <a:ln w="12700">
            <a:solidFill>
              <a:srgbClr val="2A3142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685800" y="4434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B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agent.py "What's the expansion opportunity in ACME-001?"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8229600" y="4572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/ 09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components, ~250 lines of Python.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83080"/>
            <a:ext cx="411480" cy="411480"/>
          </a:xfrm>
          <a:prstGeom prst="ellipse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184708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8013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85800" y="23317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create_react_agent — the runtime that loops over my tool graph until the model emits a final answer.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155448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520440" y="1783080"/>
            <a:ext cx="411480" cy="411480"/>
          </a:xfrm>
          <a:prstGeom prst="ellipse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3592" y="184708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069080" y="18013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3520440" y="23317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model. Cheap, fast, and good enough at tool-calling for a deterministic demo.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126480" y="155448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55080" y="1783080"/>
            <a:ext cx="411480" cy="411480"/>
          </a:xfrm>
          <a:prstGeom prst="ellipse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84708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03720" y="18013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Arize Phoenix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6355080" y="23317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OTel collector + UI for traces. Self-hosted in dev, cloud-hosted in prod.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457200" y="315468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85800" y="3383280"/>
            <a:ext cx="411480" cy="411480"/>
          </a:xfrm>
          <a:prstGeom prst="ellipse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344728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234440" y="34015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OpenInference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685800" y="39319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openinference-instrumentation-langchain auto-instruments every node, LLM call, and tool.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3291840" y="315468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520440" y="3383280"/>
            <a:ext cx="411480" cy="411480"/>
          </a:xfrm>
          <a:prstGeom prst="ellipse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3592" y="344728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069080" y="34015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tool layer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3520440" y="39319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@tool functions over hardcoded dicts simulating CRM, usage warehouse, and billing.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126480" y="3154680"/>
            <a:ext cx="2697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355080" y="3383280"/>
            <a:ext cx="411480" cy="411480"/>
          </a:xfrm>
          <a:prstGeom prst="ellipse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8232" y="344728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3720" y="340156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python-dotenv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355080" y="3931920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Keys + Phoenix endpoint config. That's it.</a:t>
            </a:r>
            <a:endParaRPr lang="en-US" sz="1050" dirty="0"/>
          </a:p>
        </p:txBody>
      </p:sp>
      <p:sp>
        <p:nvSpPr>
          <p:cNvPr id="34" name="Text 26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Discovery Agent  ·  Arize AI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8229600" y="4800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/ 09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LangGraph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 evaluated three frameworks. LangGraph won on observability.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8229600" cy="411480"/>
          </a:xfrm>
          <a:prstGeom prst="rect">
            <a:avLst/>
          </a:prstGeom>
          <a:solidFill>
            <a:srgbClr val="1A1F2E"/>
          </a:solidFill>
          <a:ln w="12700">
            <a:solidFill>
              <a:srgbClr val="1A1F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508760"/>
            <a:ext cx="15636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350008" y="1508760"/>
            <a:ext cx="20665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636008" y="1508760"/>
            <a:ext cx="19751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CrewAI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830568" y="1508760"/>
            <a:ext cx="17465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Agents SDK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40280" y="1920240"/>
            <a:ext cx="2286000" cy="594360"/>
          </a:xfrm>
          <a:prstGeom prst="rect">
            <a:avLst/>
          </a:prstGeom>
          <a:solidFill>
            <a:srgbClr val="FFF4F0"/>
          </a:solidFill>
          <a:ln w="12700">
            <a:solidFill>
              <a:srgbClr val="FFF4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920240"/>
            <a:ext cx="1563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 fidelity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350008" y="1920240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span tree via LangChain instrumentor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636008" y="1920240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Works, but spans are flatter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30568" y="192024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Excellent — first-class OpenAI tracing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82296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40280" y="2514600"/>
            <a:ext cx="2286000" cy="594360"/>
          </a:xfrm>
          <a:prstGeom prst="rect">
            <a:avLst/>
          </a:prstGeom>
          <a:solidFill>
            <a:srgbClr val="FFF4F0"/>
          </a:solidFill>
          <a:ln w="12700">
            <a:solidFill>
              <a:srgbClr val="FFF4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2514600"/>
            <a:ext cx="1563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control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350008" y="2514600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graph + state schema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36008" y="2514600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crews, less granular state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30568" y="251460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behind SDK abstractions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240280" y="3108960"/>
            <a:ext cx="2286000" cy="594360"/>
          </a:xfrm>
          <a:prstGeom prst="rect">
            <a:avLst/>
          </a:prstGeom>
          <a:solidFill>
            <a:srgbClr val="FFF4F0"/>
          </a:solidFill>
          <a:ln w="12700">
            <a:solidFill>
              <a:srgbClr val="FFF4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108960"/>
            <a:ext cx="1563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50008" y="3108960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Production-grade, large ecosystem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36008" y="3108960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Newer, fast-moving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30568" y="310896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Newer, OpenAI-only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703320"/>
            <a:ext cx="82296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240280" y="3703320"/>
            <a:ext cx="2286000" cy="594360"/>
          </a:xfrm>
          <a:prstGeom prst="rect">
            <a:avLst/>
          </a:prstGeom>
          <a:solidFill>
            <a:srgbClr val="FFF4F0"/>
          </a:solidFill>
          <a:ln w="12700">
            <a:solidFill>
              <a:srgbClr val="FFF4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3703320"/>
            <a:ext cx="156362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for this demo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350008" y="3703320"/>
            <a:ext cx="20665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— single agent, observable, extensible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636008" y="3703320"/>
            <a:ext cx="19751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Overkill — would need multiple roles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830568" y="3703320"/>
            <a:ext cx="17465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Locks me to one provider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297680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 </a:t>
            </a:r>
            <a:pPr indent="0" marL="0">
              <a:buNone/>
            </a:pPr>
            <a:r>
              <a:rPr lang="en-US" sz="120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tool-calling agent that I want to instrument and ship to production, LangGraph + Phoenix is the path of least resistance.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0" y="4800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/ 09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things I didn't expect.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73152" cy="155448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288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81051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design &gt; prompt engineering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2331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biggest quality lever wasn't the system prompt — it was tool descriptions and return shapes. Once `get_product_usage` returned utilization as a percentage instead of a ratio, the agent stopped over-investigating.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17720" y="1554480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617720" y="1554480"/>
            <a:ext cx="73152" cy="155448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8288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181051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Tracing changes how you debug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892040" y="233172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Phoenix I was reading print statements in the terminal. With it, I caught two redundant tool calls in 30 seconds — the model was re-fetching the account overview because my prompt let it.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3246120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7200" y="3246120"/>
            <a:ext cx="73152" cy="155448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5204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34440" y="35021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modes are subtle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31520" y="4023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agent rarely fails loudly. It silently picks the wrong SKU, or stops one step short of drafting the email. You only see this in the spans — which is exactly Arize's pitch.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17720" y="3246120"/>
            <a:ext cx="40690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617720" y="3246120"/>
            <a:ext cx="73152" cy="155448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5204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94960" y="35021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Eval, not vibes, ships agents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892040" y="40233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with 3 demo accounts, I needed a small eval set to catch regressions when I tweaked the prompt. The next thing I'd add: Phoenix datasets + an LLM judge on the outreach quality.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Discovery Agent  ·  Arize AI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229600" y="4800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/ 09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I'd build next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weeks, three milestones.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2286000"/>
            <a:ext cx="731520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48840"/>
            <a:ext cx="274320" cy="274320"/>
          </a:xfrm>
          <a:prstGeom prst="ellipse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sources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306324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 mock dicts for Salesforce + Snowflake + Stripe MCP servers. Same agent, real plumbing.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03320" y="2148840"/>
            <a:ext cx="274320" cy="274320"/>
          </a:xfrm>
          <a:prstGeom prst="ellipse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2606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harness in Phoenix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00400" y="306324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golden dataset of 30 accounts with known correct plays. Run experiments on prompt + model changes.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46520" y="2148840"/>
            <a:ext cx="274320" cy="274320"/>
          </a:xfrm>
          <a:prstGeom prst="ellipse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0" y="1508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FF6B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26060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943600" y="306324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interrupts before the email step — CSM reviews the thesis, can edit, then triggers send.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Upsell Discovery Agent  ·  Arize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229600" y="480060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/ 09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47"/>
          </a:solidFill>
          <a:ln w="12700">
            <a:solidFill>
              <a:srgbClr val="FF6B4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9728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 &amp; A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548640" y="274320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Happy to dig into any layer — the LangGraph state, the Phoenix traces, or the CSM workflow this is meant to replace.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Vishaal Bhardwaj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CSM, Cyberhaven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Upsell Discovery Agent</dc:title>
  <dc:subject>PptxGenJS Presentation</dc:subject>
  <dc:creator>Vishaal Bhardwaj</dc:creator>
  <cp:lastModifiedBy>Vishaal Bhardwaj</cp:lastModifiedBy>
  <cp:revision>1</cp:revision>
  <dcterms:created xsi:type="dcterms:W3CDTF">2026-04-26T20:12:59Z</dcterms:created>
  <dcterms:modified xsi:type="dcterms:W3CDTF">2026-04-26T20:12:59Z</dcterms:modified>
</cp:coreProperties>
</file>